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% facturas con todos los campos exactos (10 por plantilla)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Groq (Llama 4 Scout)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4A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Plantilla A</c:v>
                  </c:pt>
                  <c:pt idx="1">
                    <c:v>Plantilla B</c:v>
                  </c:pt>
                  <c:pt idx="2">
                    <c:v>Plantilla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Local (Qwen 2.5-VL 7B)</c:v>
                </c:pt>
              </c:strCache>
            </c:strRef>
          </c:tx>
          <c:spPr>
            <a:solidFill>
              <a:srgbClr val="D4A7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4A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Plantilla A</c:v>
                  </c:pt>
                  <c:pt idx="1">
                    <c:v>Plantilla B</c:v>
                  </c:pt>
                  <c:pt idx="2">
                    <c:v>Plantilla 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D4A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A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9525" cap="flat">
              <a:solidFill>
                <a:srgbClr val="E2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9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A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D4A72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DocFlow AI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inteligente de facturas con IA multimodal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construimos · cómo lo construimos · stack · dificultades · despliegue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  ·   Angular 21   ·   LLM multimodal (Groq / local)   ·   Docker + GHCR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63550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Spec-Driven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resolvemos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pymes reciben facturas de proveedores en PDF y hoy las teclean a mano en su ERP.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85800" cy="68580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7053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5623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distintos por proveedor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22199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proveedor factura con su propia plantilla visual; no hay un layout único que parsear.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685800" cy="68580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338785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7355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manual en el ERP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63931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se teclean los datos a mano: lento y con errores humanos frecuentes.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685800" cy="68580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480517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6908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que cuestan dinero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505663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Descuadres de IVA, duplicados o totales incoherentes pasan desapercibidos.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18120" y="1874520"/>
            <a:ext cx="3703320" cy="4160520"/>
          </a:xfrm>
          <a:prstGeom prst="roundRect">
            <a:avLst>
              <a:gd name="adj" fmla="val 2963"/>
            </a:avLst>
          </a:prstGeom>
          <a:solidFill>
            <a:srgbClr val="EEF3FC"/>
          </a:solidFill>
          <a:ln/>
        </p:spPr>
      </p:sp>
      <p:sp>
        <p:nvSpPr>
          <p:cNvPr id="17" name="Text 12"/>
          <p:cNvSpPr/>
          <p:nvPr/>
        </p:nvSpPr>
        <p:spPr>
          <a:xfrm>
            <a:off x="7818120" y="214884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6000" dirty="0"/>
          </a:p>
        </p:txBody>
      </p:sp>
      <p:sp>
        <p:nvSpPr>
          <p:cNvPr id="18" name="Text 13"/>
          <p:cNvSpPr/>
          <p:nvPr/>
        </p:nvSpPr>
        <p:spPr>
          <a:xfrm>
            <a:off x="7818120" y="30175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prueba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818120" y="331012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generados + 13 reales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183880" y="3886200"/>
            <a:ext cx="29718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818120" y="402336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22" name="Text 17"/>
          <p:cNvSpPr/>
          <p:nvPr/>
        </p:nvSpPr>
        <p:spPr>
          <a:xfrm>
            <a:off x="7818120" y="47091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visuales distintas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183880" y="5138928"/>
            <a:ext cx="29718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818120" y="52578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casos límite: reverse charge, IRPF, IVA por línea…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hemos construido: pipeline de 4 agentes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multiagente que lee, extrae, valida y responde preguntas sobre las facturas.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1472184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398" y="2401214"/>
            <a:ext cx="592531" cy="5925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1214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PDF (imágenes) con un LLM multimodal y rellena el JSON de la factura. Nunca inventa: campo ausente → null.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45536" y="326898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346704" y="196596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EEF3FC"/>
          </a:solidFill>
          <a:ln/>
        </p:spPr>
      </p:sp>
      <p:sp>
        <p:nvSpPr>
          <p:cNvPr id="12" name="Shape 9"/>
          <p:cNvSpPr/>
          <p:nvPr/>
        </p:nvSpPr>
        <p:spPr>
          <a:xfrm>
            <a:off x="4178808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022" y="2401214"/>
            <a:ext cx="592531" cy="59253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83864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83864" y="32461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29584" y="3703320"/>
            <a:ext cx="21214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reglas de negocio: cuadres, coherencia de IVA, NIF, duplicados… decide Validada / Revisión / Rechazada.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852160" y="326898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6053328" y="196596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EEF3FC"/>
          </a:solidFill>
          <a:ln/>
        </p:spPr>
      </p:sp>
      <p:sp>
        <p:nvSpPr>
          <p:cNvPr id="19" name="Shape 15"/>
          <p:cNvSpPr/>
          <p:nvPr/>
        </p:nvSpPr>
        <p:spPr>
          <a:xfrm>
            <a:off x="6885432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646" y="2401214"/>
            <a:ext cx="592531" cy="59253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0488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190488" y="32461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36208" y="3703320"/>
            <a:ext cx="21214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en lenguaje natural → SQL seguro (solo SELECT, whitelist) → respuesta con datos reales.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558784" y="326898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8759952" y="196596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EEF3FC"/>
          </a:solidFill>
          <a:ln/>
        </p:spPr>
      </p:sp>
      <p:sp>
        <p:nvSpPr>
          <p:cNvPr id="26" name="Shape 21"/>
          <p:cNvSpPr/>
          <p:nvPr/>
        </p:nvSpPr>
        <p:spPr>
          <a:xfrm>
            <a:off x="9592056" y="22860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270" y="2401214"/>
            <a:ext cx="592531" cy="59253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97112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897112" y="32461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8942832" y="3703320"/>
            <a:ext cx="21214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el comando de alta en el ERP (Sage 200). Etapa 2, simulado: nunca se ejecuta de verdad.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897112" y="48463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simulado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los datos  →  valida las reglas de negocio  →  guarda en staging  →  responde preguntas en lenguaje natural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hemos construido: Clean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dependencias apuntan al Domain, que no depende de nada.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6771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06624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Program.cs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210312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226771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270662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agentes, orquestador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21031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2677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27066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contratos — sin dependencias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2103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2677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52560" y="270662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LLM, PDF→imagen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88920" y="235915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72C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77840" y="235915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72C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0" y="235915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72C"/>
                </a:solidFill>
              </a:rPr>
              <a:t>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flechas apuntan hacia Domain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233672"/>
            <a:ext cx="91440" cy="91440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087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no tiene ningún using de EF Core, SQL Server ni del cliente HTTP del LLM.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690872"/>
            <a:ext cx="91440" cy="91440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5445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testear la lógica de negocio (las 9 reglas) sin base de datos ni LLM real.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91440" cy="91440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0017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coordina agentes vía interfaces definidas en Domain — no conoce Infrastructure.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605272"/>
            <a:ext cx="91440" cy="91440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54589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proveedor LLM (Groq ↔ local) o de motor de BD no toca ni una línea de las reglas de negocio.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Spec-Driven Development, en dos etapas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"docs/SPEC.md" es la fuente de verdad: los agentes de código implementan contra la especificación, no improvisan.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D4A7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23756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679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vertical presentable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017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Esqueleto, ingesta PDF→imagen, BD completa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34747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Agente Extractor (nivel 3 genérico)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0120" y="39319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Agente Validador (9 reglas) + orquestador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43891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Agente Consultor (text-to-SQL seguro)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60120" y="48463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Frontend Angular + guion de demo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806440" y="365760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72C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6446520" y="1965960"/>
            <a:ext cx="5074920" cy="4023360"/>
          </a:xfrm>
          <a:prstGeom prst="roundRect">
            <a:avLst>
              <a:gd name="adj" fmla="val 2273"/>
            </a:avLst>
          </a:prstGeom>
          <a:solidFill>
            <a:srgbClr val="EEF3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76656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171" y="2375611"/>
            <a:ext cx="460858" cy="46085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54380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543800" y="2679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técnica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766560" y="3017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Migración a Microsoft Agent Framework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766560" y="35661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Few-shot (nivel 2) + evaluaciones automáticas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766560" y="41148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Frontend completo (revisión humana editable)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766560" y="46634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Integrador ERP simulado + tests de integración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960120" y="55778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Completada · en producción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766560" y="55778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 — MAF ya migrado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stack .NET + Angular, con el proveedor LLM intercambiable por configuración.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2219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311603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4028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92608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· Minimal hosting · Controllers REST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96596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4581144" y="22219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755" y="2311603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6672" y="224028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81144" y="292608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EF Core (escritura) · Dapper (Consultor)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10144" y="196596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66176" y="22219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787" y="2311603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1704" y="224028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LLM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66176" y="292608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compatible OpenAI: Groq (nube) o LM Studio/Ollama (local)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2793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" y="4369003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29768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6112" y="498348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(standalone) · PrimeNG 21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402336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81144" y="42793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755" y="4369003"/>
            <a:ext cx="460858" cy="4608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76672" y="429768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81144" y="498348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GHCR · GitHub Actions (CI/CD)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10144" y="402336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266176" y="42793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787" y="4369003"/>
            <a:ext cx="460858" cy="46085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61704" y="429768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66176" y="498348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· 133 tests unitarios en verde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extracción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prompt, mismo pipeline, mismo dataset con ground truth — Groq (nube) vs LM Studio (local).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74520"/>
          <a:ext cx="64922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4924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 fallos del modelo local son dígitos mal leídos en la base imponible; la regla CUADRE_TOTAL los detecta y manda la factura a Revisión humana en vez de colarse.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52360" y="1874520"/>
            <a:ext cx="4069080" cy="1051560"/>
          </a:xfrm>
          <a:prstGeom prst="roundRect">
            <a:avLst>
              <a:gd name="adj" fmla="val 8696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20116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89720" y="187452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 en verde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108960"/>
            <a:ext cx="4069080" cy="1051560"/>
          </a:xfrm>
          <a:prstGeom prst="roundRect">
            <a:avLst>
              <a:gd name="adj" fmla="val 8696"/>
            </a:avLst>
          </a:prstGeom>
          <a:solidFill>
            <a:srgbClr val="EEF3FC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32461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~1-2 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189720" y="31089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factura con Groq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52360" y="4343400"/>
            <a:ext cx="4069080" cy="1051560"/>
          </a:xfrm>
          <a:prstGeom prst="roundRect">
            <a:avLst>
              <a:gd name="adj" fmla="val 8696"/>
            </a:avLst>
          </a:prstGeom>
          <a:solidFill>
            <a:srgbClr val="EEF3FC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4480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189720" y="434340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LLM local — privacidad total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Dificultades: migrar a Microsoft Agent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era el riesgo señalado en el SPEC. En la práctica, tres sutilezas — no bloqueos — costaron descubrirlas.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21992"/>
            <a:ext cx="640080" cy="640080"/>
          </a:xfrm>
          <a:prstGeom prst="ellipse">
            <a:avLst/>
          </a:prstGeom>
          <a:solidFill>
            <a:srgbClr val="D4A7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2311603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fallaba: “Executor no implementado”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91640" y="25328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Faltaba el paquete generador de código de los [MessageHandler]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807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72C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29400" y="196596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Microsoft.Agents.AI.Workflows.Generators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3375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3593592"/>
            <a:ext cx="640080" cy="640080"/>
          </a:xfrm>
          <a:prstGeom prst="ellipse">
            <a:avLst/>
          </a:prstGeom>
          <a:solidFill>
            <a:srgbClr val="D4A7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" y="3683203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“Cannot send messages of type X”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691640" y="39044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Un handler enviaba mensajes a mano sin declarar el tipo de salida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08076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72C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629400" y="333756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handler devuelve el tipo + aristas condicionales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47091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4965192"/>
            <a:ext cx="640080" cy="640080"/>
          </a:xfrm>
          <a:prstGeom prst="ellipse">
            <a:avLst/>
          </a:prstGeom>
          <a:solidFill>
            <a:srgbClr val="D4A72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5054803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48188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“Cannot output... Expecting one of []”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691640" y="52760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La salida del workflow no estaba declarada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08076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72C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629400" y="470916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[YieldsOutput(...)] + .WithOutputFrom(...)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MAF es fuertemente tipado en el grafo. En producción resultó estable (v1.13, no preview) y bien documentado — la migración funcionó el mismo día.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Dificultades: despliegue y modelo local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24485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67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de SQL Server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fija al crear el volumen de datos; cambiarla en el .env exige recrear el volumen (down -v).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87452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EEF3FC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224485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2167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en GHCR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92240" y="2926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push local no tenía permiso de escritura; se resolvió publicando la imagen con GitHub Actions.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11480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EEF3FC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389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448513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4074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del bundle Angular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914400" y="51663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PrimeNG superó 1 MB en producción; se ajustó el presupuesto de build a 1,5 / 2,5 MB.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411480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EEF3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4389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4485132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920" y="44074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erróneas del modelo local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92240" y="51663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local (7B) confunde dígitos en tablas complejas; las reglas de cuadre lo detectan y frenan.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Despliegue: un único punto de entrada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nginx sirve el frontend Angular y hace de proxy /api hacia el backend — todo en la red interna de Docker.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41B4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313432"/>
            <a:ext cx="640080" cy="640080"/>
          </a:xfrm>
          <a:prstGeom prst="ellipse">
            <a:avLst/>
          </a:prstGeom>
          <a:solidFill>
            <a:srgbClr val="D4A7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771" y="2403043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900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282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21488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10" name="Shape 7"/>
          <p:cNvSpPr/>
          <p:nvPr/>
        </p:nvSpPr>
        <p:spPr>
          <a:xfrm>
            <a:off x="4251960" y="231343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571" y="2403043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990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(nginx)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32826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 · estáticos + proxy /api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583680" y="2148840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406640" y="231343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251" y="2403043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2990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(.NET)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629400" y="32826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interna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555480" y="21488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18420" y="231343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8031" y="2403043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55480" y="29900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(SQL Srv)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601200" y="328269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interna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2606040" y="253746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72C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5943600" y="253746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72C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9052560" y="25374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72C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1"/>
          <p:cNvSpPr/>
          <p:nvPr/>
        </p:nvSpPr>
        <p:spPr>
          <a:xfrm>
            <a:off x="3246120" y="3886200"/>
            <a:ext cx="8275320" cy="457200"/>
          </a:xfrm>
          <a:prstGeom prst="roundRect">
            <a:avLst>
              <a:gd name="adj" fmla="val 12000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246120" y="3886200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interna de Docker — api y db nunca se exponen fuera del host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de imágenes (CI/CD)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40080" y="57150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9" y="5785409"/>
            <a:ext cx="362102" cy="36210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34440" y="57424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master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657600" y="5715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72C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4160520" y="57150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0929" y="5785409"/>
            <a:ext cx="362102" cy="36210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754880" y="57424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→ build + push GHCR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7818120" y="5715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72C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0"/>
          <p:cNvSpPr/>
          <p:nvPr/>
        </p:nvSpPr>
        <p:spPr>
          <a:xfrm>
            <a:off x="8321040" y="57150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1449" y="5785409"/>
            <a:ext cx="362102" cy="36210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915400" y="57424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pull &amp;&amp; up -d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queda por delante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en curso — el sistema ya está en producción y se consolida sin romper lo construido.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72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por proveedor (nivel 2): extracción más precisa a partir de facturas ya validadas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72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revisión humana editable, con campos de baja confianza destacados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7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206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canal de ingesta: bot corporativo (Microsoft Teams) para subir facturas desde el chat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257800"/>
            <a:ext cx="10881360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idea a producción: Spec-Driven Development, Clean Architecture y despliegue con un solo comando.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DocFlow AI — Presentación técnica</dc:title>
  <dc:subject>PptxGenJS Presentation</dc:subject>
  <dc:creator>DocFlow AI</dc:creator>
  <cp:lastModifiedBy>DocFlow AI</cp:lastModifiedBy>
  <cp:revision>1</cp:revision>
  <dcterms:created xsi:type="dcterms:W3CDTF">2026-07-17T21:30:47Z</dcterms:created>
  <dcterms:modified xsi:type="dcterms:W3CDTF">2026-07-17T21:30:47Z</dcterms:modified>
</cp:coreProperties>
</file>